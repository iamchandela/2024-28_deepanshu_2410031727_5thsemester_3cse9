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Walmart USA – Advanced Software Engineering</a:t>
            </a:r>
          </a:p>
          <a:p>
            <a:pPr>
              <a:spcBef>
                <a:spcPts val="1000"/>
              </a:spcBef>
              <a:defRPr sz="1800">
                <a:solidFill>
                  <a:srgbClr val="FFC220"/>
                </a:solidFill>
              </a:defRPr>
            </a:pPr>
            <a:r>
              <a:t>Virtual Experience &amp; Internship Evaluation Presentation</a:t>
            </a:r>
          </a:p>
          <a:p>
            <a:pPr>
              <a:spcBef>
                <a:spcPts val="2000"/>
              </a:spcBef>
              <a:defRPr sz="1300">
                <a:solidFill>
                  <a:srgbClr val="CBD5E1"/>
                </a:solidFill>
              </a:defRPr>
            </a:pPr>
            <a:r>
              <a:t>Evaluation Parameter: Internship Report, Presentation &amp; Q/A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029200"/>
            <a:ext cx="9601200" cy="1097280"/>
          </a:xfrm>
          <a:prstGeom prst="roundRect">
            <a:avLst/>
          </a:prstGeom>
          <a:solidFill>
            <a:srgbClr val="0F2A56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Prepared By: Deepanshu  |  Degree: B.Tech Computer Science &amp; Engineering (5th Sem)</a:t>
            </a:r>
            <a:br/>
            <a:r>
              <a:t>Platform: Forage (Walmart USA Simulation)  |  Domain: Backend Architecture &amp; Data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1. Project Overview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EXECUTIVE SUMMARY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This presentation covers the technical deliverables engineered during the Walmart USA Job Simulation on Forage. The tasks focus on core software engineering principles including high-fanout data structure optimization, SOLID-compliant microservices architecture, 3NF database design, and automated Python ETL pipelines for retail supply chain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Core Languages &amp; Runtimes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Java 17+ (OOP, Generics)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Python 3.x (ETL, CSV/SQLite)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SQL (DDL, Constraints)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4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Architecture &amp; Engineering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Strategy Design Pattern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SOLID Principles Compliance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Memory-Efficient 2^x Heap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Databases &amp; System Tools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SQLite3 &amp; PostgreSQL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Redis &amp; Elasticsearch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Git &amp; PlantUML Diagrams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2. Task 1: Advanced Data Structures (2^x Max Heap)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PROBLEM STATEMENT &amp; OBJECTIVE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Standard Binary Heap Limit: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Binary heaps fix child count per node to 2, causing deeper tree heights in high-volume throughput systems.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Custom Branching Factor: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Engineered a modified Max Heap where each parent node contains exactly 2^x children.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Configurable Parameter (x):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Configured 'x' dynamically during initialization to allow flexible branching (e.g., x=1 -&gt; 2 children, x=2 -&gt; 4 children, x=3 -&gt; 8 children).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TECHNICAL IMPLEMENTATION (PowerOfTwoMaxHeap.java)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Array Index Calculations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Child indices calculated via: childIndex = (2^x * parentIndex) + k + 1 (where 1 &lt;= k &lt;= 2^x).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Optimized heapifyUp() &amp; heapifyDown()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Adjusted shift-up and shift-down loops to evaluate all 2^x children to maintain Max Heap invariant.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PopMax &amp; Insertion Operations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Guaranteed efficient root element extraction with logarithmic time complexity bounds relative to fanout factor.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Performance Outcome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Drastically reduced tree depth for high-throughput batch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3. Task 2: Software Architecture &amp;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4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41E42"/>
                </a:solidFill>
              </a:defRPr>
            </a:pPr>
            <a:r>
              <a:t>Strategy Pattern Implementation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Decoupled data processing logic using interfaces, enabling dynamic execution mode switching at runtime without modifying client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128016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71DC"/>
                </a:solidFill>
              </a:defRPr>
            </a:pPr>
            <a:r>
              <a:t>SOLID Principles Adherence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Ensured Single Responsibility (SRP) and Open-Closed Principle (OCP) across processor pipelines and pluggable database connectors.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9728" cy="1280160"/>
          </a:xfrm>
          <a:prstGeom prst="rect">
            <a:avLst/>
          </a:prstGeom>
          <a:solidFill>
            <a:srgbClr val="00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04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41E42"/>
                </a:solidFill>
              </a:defRPr>
            </a:pPr>
            <a:r>
              <a:t>Pluggable Database Integration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Built unified abstractions supporting seamless connectors for PostgreSQL, Redis, and Elasticsearch (DataProcessorSystem.java).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09728" cy="128016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1E42"/>
                </a:solidFill>
              </a:defRPr>
            </a:pPr>
            <a:r>
              <a:t>Supported Processing Modes:  [ DUMP ] - Output Raw Streams  |  [ PASSTHROUGH ] - Direct Pipeline  |  [ VALIDATE ] - Schema &amp; Rule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4. Task 3: Relational Database Design (3NF Schema)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CORE ENTITY SCHEMAS (schema.sql)</a:t>
            </a:r>
          </a:p>
          <a:p>
            <a:pPr>
              <a:spcBef>
                <a:spcPts val="800"/>
              </a:spcBef>
              <a:defRPr b="1" sz="1100">
                <a:solidFill>
                  <a:srgbClr val="0071DC"/>
                </a:solidFill>
              </a:defRPr>
            </a:pPr>
            <a:r>
              <a:t>❖ product Table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PRIMARY KEY: name (TEXT)</a:t>
            </a:r>
            <a:br/>
            <a:r>
              <a:t>Attributes: type (TEXT)</a:t>
            </a:r>
            <a:br/>
            <a:r>
              <a:t>Models distinct retail items in Pet Dept.</a:t>
            </a:r>
          </a:p>
          <a:p>
            <a:pPr>
              <a:spcBef>
                <a:spcPts val="800"/>
              </a:spcBef>
              <a:defRPr b="1" sz="1100">
                <a:solidFill>
                  <a:srgbClr val="0071DC"/>
                </a:solidFill>
              </a:defRPr>
            </a:pPr>
            <a:r>
              <a:t>❖ shipment Table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PRIMARY KEY: shipment_id (TEXT)</a:t>
            </a:r>
            <a:br/>
            <a:r>
              <a:t>Attributes: origin, destination</a:t>
            </a:r>
            <a:br/>
            <a:r>
              <a:t>Tracks shipment origin/destination logistics.</a:t>
            </a:r>
          </a:p>
          <a:p>
            <a:pPr>
              <a:spcBef>
                <a:spcPts val="800"/>
              </a:spcBef>
              <a:defRPr b="1" sz="1100">
                <a:solidFill>
                  <a:srgbClr val="0071DC"/>
                </a:solidFill>
              </a:defRPr>
            </a:pPr>
            <a:r>
              <a:t>❖ shipment_item Table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FOREIGN KEYS: shipment_id, product_name</a:t>
            </a:r>
            <a:br/>
            <a:r>
              <a:t>Attributes: quantity (INTEGER)</a:t>
            </a:r>
            <a:br/>
            <a:r>
              <a:t>Junction entity mapping product counts per shipment.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3NF NORMALIZATION &amp; INTEGRITY IMPACT</a:t>
            </a:r>
          </a:p>
          <a:p>
            <a:pPr>
              <a:spcBef>
                <a:spcPts val="800"/>
              </a:spcBef>
              <a:defRPr b="1" sz="1100">
                <a:solidFill>
                  <a:srgbClr val="041E42"/>
                </a:solidFill>
              </a:defRPr>
            </a:pPr>
            <a:r>
              <a:t>✔ Elimination of Data Redundancy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Product types and shipment locations stored once, avoiding duplicate string storage across millions of rows.</a:t>
            </a:r>
          </a:p>
          <a:p>
            <a:pPr>
              <a:spcBef>
                <a:spcPts val="800"/>
              </a:spcBef>
              <a:defRPr b="1" sz="1100">
                <a:solidFill>
                  <a:srgbClr val="041E42"/>
                </a:solidFill>
              </a:defRPr>
            </a:pPr>
            <a:r>
              <a:t>✔ Prevention of Update Anomalies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Updating a product's type or shipment destination requires altering a single row without widespread table edits.</a:t>
            </a:r>
          </a:p>
          <a:p>
            <a:pPr>
              <a:spcBef>
                <a:spcPts val="800"/>
              </a:spcBef>
              <a:defRPr b="1" sz="1100">
                <a:solidFill>
                  <a:srgbClr val="041E42"/>
                </a:solidFill>
              </a:defRPr>
            </a:pPr>
            <a:r>
              <a:t>✔ Foreign Key Referential Integrity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Constraints ensure shipment_item records cannot point to non-existent shipments or products.</a:t>
            </a:r>
          </a:p>
          <a:p>
            <a:pPr>
              <a:spcBef>
                <a:spcPts val="800"/>
              </a:spcBef>
              <a:defRPr b="1" sz="1100">
                <a:solidFill>
                  <a:srgbClr val="041E42"/>
                </a:solidFill>
              </a:defRPr>
            </a:pPr>
            <a:r>
              <a:t>✔ Production Readiness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Designed explicitly for high data throughput and transactional reliability in Walmart's supply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5. Task 4: Data Munging &amp; Python ETL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ETL CHALLENGE &amp; INPUT DATASETS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shipping_data_0.csv: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Contains product names and product types.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shipping_data_1.csv: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Contains shipment IDs, product names, and item quantities.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shipping_data_2.csv: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Contains shipment IDs, origin locations, and destinations.</a:t>
            </a:r>
          </a:p>
          <a:p>
            <a:pPr>
              <a:spcBef>
                <a:spcPts val="1000"/>
              </a:spcBef>
              <a:defRPr b="1" sz="1100">
                <a:solidFill>
                  <a:srgbClr val="041E42"/>
                </a:solidFill>
              </a:defRPr>
            </a:pPr>
            <a:r>
              <a:t>• Data Munging Goal: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Combine disparate spreadsheets, resolve dirty/missing values, and populate SQLite database tables (shipping.db).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PYTHON PIPELINE SOLUTION (Data_Munger.py)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Native Libraries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Utilized Python's built-in sqlite3 and csv modules with UTF-8 encoding support.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Crash-Resilient safe_int() Helper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Wrapped integer parsing inside try-except blocks (defaulting to 1 if parsing fails), handling malformed text safely.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In-Memory Hash Mapping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Cached shipment origin and destination mappings from spreadsheet 2 in memory for fast O(1) lookups.</a:t>
            </a:r>
          </a:p>
          <a:p>
            <a:pPr>
              <a:spcBef>
                <a:spcPts val="1000"/>
              </a:spcBef>
              <a:defRPr b="1" sz="1100">
                <a:solidFill>
                  <a:srgbClr val="0071DC"/>
                </a:solidFill>
              </a:defRPr>
            </a:pPr>
            <a:r>
              <a:t>✔ Idempotent SQL Execution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Used INSERT OR IGNORE clauses to prevent duplicate key crashes during batch insertion into shipping.db.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1DC"/>
                </a:solidFill>
              </a:defRPr>
            </a:pPr>
            <a:r>
              <a:t>WALMART ADVANCED 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41E42"/>
                </a:solidFill>
              </a:defRPr>
            </a:pPr>
            <a:r>
              <a:t>6. Key Engineering Outcomes &amp;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0071DC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1. Non-Binary Heap Optimization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Gained deep understanding of dynamic memory navigation and tree depth reduction using 2^x branching factor calculation in Java.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4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2. Enterprise Software Architecture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Applied Strategy Pattern and SOLID principles to build modular, reconfigurable backend systems capable of swapping DB connectors.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4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41E42"/>
                </a:solidFill>
              </a:defRPr>
            </a:pPr>
            <a:r>
              <a:t>3. Database Normalization (3NF)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Mastered database schema normalization to eliminate redundancy while setting strict PK/FK constraints for enterprise data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07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1DC"/>
                </a:solidFill>
              </a:defRPr>
            </a:pPr>
            <a:r>
              <a:t>4. Robust Python Data Pipelines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Built crash-resistant ETL scripts using safe parsing, memory mapping, and transactional SQLite commits for real-world supply chain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220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Walmart USA – Advanced Software Engineering Virtual Experience</a:t>
            </a:r>
          </a:p>
          <a:p>
            <a:pPr algn="ctr">
              <a:spcBef>
                <a:spcPts val="3000"/>
              </a:spcBef>
              <a:defRPr sz="1400">
                <a:solidFill>
                  <a:srgbClr val="CBD5E1"/>
                </a:solidFill>
              </a:defRPr>
            </a:pPr>
            <a:r>
              <a:t>Questions &amp; Answers (Q&amp;A) Session with the Evaluation Panel</a:t>
            </a:r>
          </a:p>
          <a:p>
            <a:pPr algn="ctr">
              <a:spcBef>
                <a:spcPts val="1500"/>
              </a:spcBef>
              <a:defRPr sz="1200">
                <a:solidFill>
                  <a:srgbClr val="FFC220"/>
                </a:solidFill>
              </a:defRPr>
            </a:pPr>
            <a:r>
              <a:t>Student Name: Deepanshu  |  B.Tech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